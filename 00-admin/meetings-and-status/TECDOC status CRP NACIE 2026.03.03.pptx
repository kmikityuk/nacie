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3F8E-97BA-6FA6-EAC4-E93C8C36B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7C068-583B-1D0D-3F7C-C90681682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1C4F-FA6A-11A7-49CD-B7B63E8B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7BB6A-DD20-79E2-2CA6-23E7CB6E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8085-3A98-BB96-0D2E-C2638E53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011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0705-026B-6D0C-C0F1-931A6395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A5914-EF81-EE88-0377-DB87271D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AA660-6E56-F718-8DD0-08BF5E74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0EC15-3C53-EF2B-5D0E-340AB798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EC423-FC3D-A9B2-B2E7-DB026A07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955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B650-2D3A-B841-6C1A-0DD9561D4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83EEC-FCA2-7AAD-8F62-39C996843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B60C4-DBA5-75CE-5C5C-51FC4278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632D5-CCBB-5132-A779-DA245F44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639E-2738-5F53-8B64-594B091B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350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380F-1811-0D6C-5341-245EBFDE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5969-2D15-8B88-80F6-5342EBC4A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CBA9E-0A39-3F53-3C06-9CF7BDDB4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1A49A-5B6F-44C3-E72F-BBDC2EF5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F87E4-319D-C5C8-7545-DBEB02CB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BFC5-F560-6958-1666-AC2BFDED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707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C54E-7411-5553-8137-9EB2860D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62EF-8625-E984-1F1F-74A3D7371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3A79C-41F2-B9C4-061E-C3B11D071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CC4DD-B4FE-EB56-4076-CFF40E7F4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EE35D-B39E-E801-D7B4-5D33C0902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42F49-F57E-9D65-429D-65AFC6A0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97812-43FE-5AF6-44F1-F99A0974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9B617-53F7-9670-BF61-DBE0245C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0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9779-A008-2993-C4E0-573819AE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6A63A-86F0-9863-3B68-16A20EEA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6C70B-3E7B-1ABA-2070-2305FF88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0CE87-9E7A-FF9B-D932-64B0CC69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697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182A3-2219-D1FE-0212-C9AB0158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96E3F-BAC5-66C6-6169-5D1C39BB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3A082-6600-EBCD-62A7-90D621D4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5372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8B86-A799-6F26-871D-935772F7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12DE-469E-4D2E-884A-0B11A70DA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237DF-3586-0AB1-8B70-A95346BE0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767C2-F561-D974-1C05-22EBF9A1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00C6B-CDEE-66C8-A777-C344CD53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39D10-0DDC-C664-359E-3BBB120A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314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60F1-36AD-68EF-5C52-EFA51AEE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2DC29-B625-6EA4-A09A-609BB4161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77A1E-1AA6-86C6-050F-1252971D7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0EAE3-9E25-38B8-88E5-D4E9D960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C39BC-81E1-78CD-39EF-52745C96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3A5C9-C1A8-B32F-D50F-A2018387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205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564-0CDC-44CF-49A7-C6C99E39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DDFF9-6CA4-67A6-00D0-C7AC5F8B5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00457-842D-77FF-4AE5-D48AA829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1F01E-9054-18A1-F360-08D46042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8E052-AC8C-C457-0366-8ED0F79C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538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CE3BD2-748D-07C0-D01B-65398E55E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C5D75-CD28-9F34-A8B9-27133CDA4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2174F-20FA-1B51-1DFB-00D82F30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241D9-13F9-D003-A0A6-238EF0F2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458D8-AB1E-3235-EC24-A78E3F4A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008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16D3F-99C6-5863-6386-AF1E18BA9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71C00-0984-9B18-3BBD-678B4D4DC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6BE0E-8694-2326-657C-B23519144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16FB3-B4A8-4B2A-A06E-4A12223B1C9F}" type="datetimeFigureOut">
              <a:rPr lang="de-CH" smtClean="0"/>
              <a:t>13.04.2026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3F42E-39D5-D7B6-2205-15DA50F21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B41DC-676E-C404-9051-BFE52B94D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2ED3-CA89-4E3C-9B81-1D9D7663D0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252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ucleus.iaea.org/sites/FRIP/NACIE/Shared%20Documents/Forms/AllItems.aspx?id=%2Fsites%2FFRIP%2FNACIE%2FShared%20Documents%2FWORKSPAC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a.petruzzi@nineeng.com" TargetMode="External"/><Relationship Id="rId3" Type="http://schemas.openxmlformats.org/officeDocument/2006/relationships/hyperlink" Target="mailto:ivan.dipiazza@enea.it" TargetMode="External"/><Relationship Id="rId7" Type="http://schemas.openxmlformats.org/officeDocument/2006/relationships/hyperlink" Target="mailto:barbara.calgaro@newcleo.com" TargetMode="External"/><Relationship Id="rId2" Type="http://schemas.openxmlformats.org/officeDocument/2006/relationships/hyperlink" Target="mailto:chenmeilan@cgnpc.com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bhpark@kaeri.re.kr" TargetMode="External"/><Relationship Id="rId5" Type="http://schemas.openxmlformats.org/officeDocument/2006/relationships/hyperlink" Target="mailto:dhrumil@igcar.gov.in" TargetMode="External"/><Relationship Id="rId10" Type="http://schemas.openxmlformats.org/officeDocument/2006/relationships/hyperlink" Target="mailto:Andrea.Pucciarelli@unipi.it" TargetMode="External"/><Relationship Id="rId4" Type="http://schemas.openxmlformats.org/officeDocument/2006/relationships/hyperlink" Target="mailto:baisov75@gmail.com" TargetMode="External"/><Relationship Id="rId9" Type="http://schemas.openxmlformats.org/officeDocument/2006/relationships/hyperlink" Target="mailto:Konstantin.Mikityuk@psi.ch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gianfranco.caruso@uniroma1.it" TargetMode="External"/><Relationship Id="rId3" Type="http://schemas.openxmlformats.org/officeDocument/2006/relationships/hyperlink" Target="mailto:dlzhang@xjtu.edu.cn" TargetMode="External"/><Relationship Id="rId7" Type="http://schemas.openxmlformats.org/officeDocument/2006/relationships/hyperlink" Target="mailto:ivan.dipiazza@enea.it" TargetMode="External"/><Relationship Id="rId2" Type="http://schemas.openxmlformats.org/officeDocument/2006/relationships/hyperlink" Target="mailto:chenmeilan@cgnpc.com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bhpark@kaeri.re.kr" TargetMode="External"/><Relationship Id="rId5" Type="http://schemas.openxmlformats.org/officeDocument/2006/relationships/hyperlink" Target="mailto:dhrumil@igcar.gov.in" TargetMode="External"/><Relationship Id="rId10" Type="http://schemas.openxmlformats.org/officeDocument/2006/relationships/hyperlink" Target="mailto:baisov75@gmail.com" TargetMode="External"/><Relationship Id="rId4" Type="http://schemas.openxmlformats.org/officeDocument/2006/relationships/hyperlink" Target="mailto:Konstantin.Mikityuk@psi.ch" TargetMode="External"/><Relationship Id="rId9" Type="http://schemas.openxmlformats.org/officeDocument/2006/relationships/hyperlink" Target="mailto:a.petruzzi@nineeng.co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a.petruzzi@nineeng.com" TargetMode="External"/><Relationship Id="rId13" Type="http://schemas.openxmlformats.org/officeDocument/2006/relationships/hyperlink" Target="mailto:nam@ibrae.ac.ru" TargetMode="External"/><Relationship Id="rId3" Type="http://schemas.openxmlformats.org/officeDocument/2006/relationships/hyperlink" Target="mailto:ivan.dipiazza@enea.it" TargetMode="External"/><Relationship Id="rId7" Type="http://schemas.openxmlformats.org/officeDocument/2006/relationships/hyperlink" Target="mailto:barbara.calgaro@newcleo.com" TargetMode="External"/><Relationship Id="rId12" Type="http://schemas.openxmlformats.org/officeDocument/2006/relationships/hyperlink" Target="mailto:dlzhang@xjtu.edu.cn" TargetMode="External"/><Relationship Id="rId2" Type="http://schemas.openxmlformats.org/officeDocument/2006/relationships/hyperlink" Target="mailto:chenmeilan@cgnpc.com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bhpark@kaeri.re.kr" TargetMode="External"/><Relationship Id="rId11" Type="http://schemas.openxmlformats.org/officeDocument/2006/relationships/hyperlink" Target="mailto:mirea.mladin@nuclear.ro" TargetMode="External"/><Relationship Id="rId5" Type="http://schemas.openxmlformats.org/officeDocument/2006/relationships/hyperlink" Target="mailto:dhrumil@igcar.gov.in" TargetMode="External"/><Relationship Id="rId10" Type="http://schemas.openxmlformats.org/officeDocument/2006/relationships/hyperlink" Target="mailto:konstantin.mikityuk@psi.ch" TargetMode="External"/><Relationship Id="rId4" Type="http://schemas.openxmlformats.org/officeDocument/2006/relationships/hyperlink" Target="mailto:baisov75@gmail.com" TargetMode="External"/><Relationship Id="rId9" Type="http://schemas.openxmlformats.org/officeDocument/2006/relationships/hyperlink" Target="mailto:roelofs@nrg.eu" TargetMode="External"/><Relationship Id="rId14" Type="http://schemas.openxmlformats.org/officeDocument/2006/relationships/hyperlink" Target="mailto:luca.ammirabile@ec.europa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C86C-591C-4806-F3E0-499338C97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CRP NACIE: status of TECDOC preparation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491E6-8E3C-4313-DA6E-2F6223DAE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Konstantin Mikityuk</a:t>
            </a:r>
          </a:p>
          <a:p>
            <a:r>
              <a:rPr lang="en-US" dirty="0"/>
              <a:t>Paul Scherrer Institute, Switzerland</a:t>
            </a:r>
          </a:p>
          <a:p>
            <a:r>
              <a:rPr lang="en-US" dirty="0"/>
              <a:t>konstantin.mikityuk@psi.ch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01746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FA79-6895-17E6-AD9F-C68680F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28FA0C-3F4D-1BA4-585A-9F87B067D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Workspace</a:t>
            </a:r>
            <a:endParaRPr lang="de-CH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868AB-D265-85EC-B93A-8938F9C8AE17}"/>
              </a:ext>
            </a:extLst>
          </p:cNvPr>
          <p:cNvSpPr txBox="1"/>
          <p:nvPr/>
        </p:nvSpPr>
        <p:spPr>
          <a:xfrm>
            <a:off x="0" y="963268"/>
            <a:ext cx="6096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folder WORKSPACE at 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NACIE SharePoint</a:t>
            </a:r>
            <a:endParaRPr lang="en-US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complete (as for 01.03.26) document for each chapter from 1 to 10. Naming convention: </a:t>
            </a:r>
            <a:r>
              <a:rPr lang="en-US" sz="2400" noProof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ChapterX-Y.docx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</a:t>
            </a:r>
            <a:r>
              <a:rPr lang="en-US" sz="2400" noProof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chapter number and </a:t>
            </a:r>
            <a:r>
              <a:rPr lang="en-US" sz="2400" noProof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version, e.g. </a:t>
            </a:r>
            <a:r>
              <a:rPr lang="en-US" sz="2400" noProof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Chapter01-01.docx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would like to modify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(or upload a new one)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please create a new version (e.g. </a:t>
            </a:r>
            <a:r>
              <a:rPr 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Chapter01-02.docx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use Track Mode.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Folders 13 to 15 contains multiple files: one per organization (13 and 15) or one per code (14).</a:t>
            </a:r>
            <a:endParaRPr lang="en-US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B808DF-8893-BA4C-AA8B-D93FC7B1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892" y="0"/>
            <a:ext cx="6300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3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B58-3A76-86AF-AA82-9F1DCA56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3C8F4B-9EB1-DF78-E3A1-92629B115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Chapters: readiness</a:t>
            </a:r>
            <a:endParaRPr lang="de-CH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87C5A-4351-62FB-C8AD-ED616A840C93}"/>
              </a:ext>
            </a:extLst>
          </p:cNvPr>
          <p:cNvSpPr txBox="1"/>
          <p:nvPr/>
        </p:nvSpPr>
        <p:spPr>
          <a:xfrm>
            <a:off x="0" y="1080000"/>
            <a:ext cx="12191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Introduction (IAEA)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CRP Phases and implementation (IAEA)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Description of the NACIE facility (ENEA, Ivan)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Description of the experimental tests (ENEA, Ivan</a:t>
            </a:r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WP1-System TH (Konstantin/PSI, Anton/ANL)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WP2-CFD (Akshat/NRG, NIKIET)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WP3-Subchannel Analysis (Francesco/ENEA)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WP4-Multiscale (Andrea/UNIPI, Dalin/XJTU)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Sensitivity and uncertainty analysis (WP5, </a:t>
            </a:r>
            <a:r>
              <a:rPr lang="en-US" sz="2400" noProof="0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Eugenii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/IBRAE)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Final conclusion and prospects (Ivan/ENEA, WP Leaders, All)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References (IAEA)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 Abbreviations (IAEA)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 Annex I: Introduction of the pa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rticipating organizations (All)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 Annex II: Desc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ription of simulation codes (All)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 Annex III: Individual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Participants’ Simulation Results (All)</a:t>
            </a:r>
          </a:p>
        </p:txBody>
      </p:sp>
    </p:spTree>
    <p:extLst>
      <p:ext uri="{BB962C8B-B14F-4D97-AF65-F5344CB8AC3E}">
        <p14:creationId xmlns:p14="http://schemas.microsoft.com/office/powerpoint/2010/main" val="332147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DCE9-BE81-17AF-D166-2C975639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B5C51A-CEC6-04E7-78DF-5D25E8C38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Chapters: actions</a:t>
            </a:r>
            <a:endParaRPr lang="de-CH" sz="5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76ECB2-EE8D-CA8B-6F46-D62F56CAA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5898"/>
              </p:ext>
            </p:extLst>
          </p:nvPr>
        </p:nvGraphicFramePr>
        <p:xfrm>
          <a:off x="165100" y="1276350"/>
          <a:ext cx="11741150" cy="1747520"/>
        </p:xfrm>
        <a:graphic>
          <a:graphicData uri="http://schemas.openxmlformats.org/drawingml/2006/table">
            <a:tbl>
              <a:tblPr firstRow="1" bandRow="1"/>
              <a:tblGrid>
                <a:gridCol w="6534150">
                  <a:extLst>
                    <a:ext uri="{9D8B030D-6E8A-4147-A177-3AD203B41FA5}">
                      <a16:colId xmlns:a16="http://schemas.microsoft.com/office/drawing/2014/main" val="1953030346"/>
                    </a:ext>
                  </a:extLst>
                </a:gridCol>
                <a:gridCol w="3854450">
                  <a:extLst>
                    <a:ext uri="{9D8B030D-6E8A-4147-A177-3AD203B41FA5}">
                      <a16:colId xmlns:a16="http://schemas.microsoft.com/office/drawing/2014/main" val="81545252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19306581"/>
                    </a:ext>
                  </a:extLst>
                </a:gridCol>
              </a:tblGrid>
              <a:tr h="138006"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53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1-1. Finish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chapter 5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WP1-System TH 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Konstantin/PSI + Anton/ANL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2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1-2. For Chapters 1 to 10 provide a summary paragraph about conclusions and prospects (upload to folder 10)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WP leaders / Chapter leads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0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1-3. Compile the inputs and write Chapter 10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Ivan/ENEA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7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63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BF83-7AF5-B083-45E9-A3120B8D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7B0EB8E-586A-97B0-E878-E0C5B4840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Description of organizations: readiness</a:t>
            </a:r>
            <a:endParaRPr lang="de-CH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A8DFC-B565-B470-BC3F-230C32C072FA}"/>
              </a:ext>
            </a:extLst>
          </p:cNvPr>
          <p:cNvSpPr txBox="1"/>
          <p:nvPr/>
        </p:nvSpPr>
        <p:spPr>
          <a:xfrm>
            <a:off x="1" y="1391150"/>
            <a:ext cx="454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ANL          	USA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CIAE         	China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CNPRI        	China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ENEA         	Italy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Gidropress  	Russia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IANS         	China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IBRAE        	Russia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IGCAR        	India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JRC          	EC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KAERI        	Korea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KIT          	Germany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7AD0B-6923-164A-D30B-7DA891F69ADD}"/>
              </a:ext>
            </a:extLst>
          </p:cNvPr>
          <p:cNvSpPr txBox="1"/>
          <p:nvPr/>
        </p:nvSpPr>
        <p:spPr>
          <a:xfrm>
            <a:off x="6096000" y="1391150"/>
            <a:ext cx="454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NIKIET       		Russia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NINE         		Italy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NRG          		Netherlands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PSI          		Switzerland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PUB          		Romania</a:t>
            </a:r>
          </a:p>
          <a:p>
            <a:r>
              <a:rPr lang="en-US" sz="2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 RATEN ICN    	Romania</a:t>
            </a:r>
          </a:p>
          <a:p>
            <a:r>
              <a:rPr lang="en-US" sz="2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18. Sapienza 	 	Italy</a:t>
            </a:r>
            <a:endParaRPr lang="en-US" sz="2400" noProof="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UNIPI        		Italy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20. Westinghouse 	USA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21. XJTU         		China</a:t>
            </a:r>
          </a:p>
          <a:p>
            <a:endParaRPr lang="en-US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AD31C-705A-F5C9-C7EE-1212F7D66183}"/>
              </a:ext>
            </a:extLst>
          </p:cNvPr>
          <p:cNvSpPr txBox="1"/>
          <p:nvPr/>
        </p:nvSpPr>
        <p:spPr>
          <a:xfrm>
            <a:off x="123825" y="5915465"/>
            <a:ext cx="6394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if the list is complete.</a:t>
            </a:r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3197753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260E9-37D0-B737-8F99-B7E2CCED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60831A-4AAC-E177-EFE0-AE7BC23D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Description of organizations: actions</a:t>
            </a:r>
            <a:endParaRPr lang="de-CH" sz="5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01FC15-77D8-C7C4-99F3-E2E3B8005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028865"/>
              </p:ext>
            </p:extLst>
          </p:nvPr>
        </p:nvGraphicFramePr>
        <p:xfrm>
          <a:off x="165100" y="1276350"/>
          <a:ext cx="11829553" cy="4074160"/>
        </p:xfrm>
        <a:graphic>
          <a:graphicData uri="http://schemas.openxmlformats.org/drawingml/2006/table">
            <a:tbl>
              <a:tblPr firstRow="1" bandRow="1"/>
              <a:tblGrid>
                <a:gridCol w="3687053">
                  <a:extLst>
                    <a:ext uri="{9D8B030D-6E8A-4147-A177-3AD203B41FA5}">
                      <a16:colId xmlns:a16="http://schemas.microsoft.com/office/drawing/2014/main" val="1953030346"/>
                    </a:ext>
                  </a:extLst>
                </a:gridCol>
                <a:gridCol w="2801566">
                  <a:extLst>
                    <a:ext uri="{9D8B030D-6E8A-4147-A177-3AD203B41FA5}">
                      <a16:colId xmlns:a16="http://schemas.microsoft.com/office/drawing/2014/main" val="815452527"/>
                    </a:ext>
                  </a:extLst>
                </a:gridCol>
                <a:gridCol w="3538031">
                  <a:extLst>
                    <a:ext uri="{9D8B030D-6E8A-4147-A177-3AD203B41FA5}">
                      <a16:colId xmlns:a16="http://schemas.microsoft.com/office/drawing/2014/main" val="119306581"/>
                    </a:ext>
                  </a:extLst>
                </a:gridCol>
                <a:gridCol w="1802903">
                  <a:extLst>
                    <a:ext uri="{9D8B030D-6E8A-4147-A177-3AD203B41FA5}">
                      <a16:colId xmlns:a16="http://schemas.microsoft.com/office/drawing/2014/main" val="993552657"/>
                    </a:ext>
                  </a:extLst>
                </a:gridCol>
              </a:tblGrid>
              <a:tr h="138006"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53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2-1.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CNPRI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 </a:t>
                      </a:r>
                      <a:r>
                        <a:rPr lang="de-CH" sz="1700" dirty="0" err="1"/>
                        <a:t>Meilan</a:t>
                      </a:r>
                      <a:r>
                        <a:rPr lang="de-CH" sz="1700" dirty="0"/>
                        <a:t>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>
                          <a:hlinkClick r:id="rId2"/>
                        </a:rPr>
                        <a:t>chenmeilan@cgnpc.com.cn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2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2-2.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ENEA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Ivan Di Piazza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3"/>
                        </a:rPr>
                        <a:t>ivan.dipiazza@enea.it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0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2-3.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Gidropress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Ahmed </a:t>
                      </a:r>
                      <a:r>
                        <a:rPr lang="de-CH" sz="1700" dirty="0" err="1"/>
                        <a:t>Baisov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4"/>
                        </a:rPr>
                        <a:t>baisov75@gmail.com</a:t>
                      </a:r>
                      <a:endParaRPr lang="de-CH" sz="17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7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2-4.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IGCAR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</a:t>
                      </a:r>
                      <a:r>
                        <a:rPr lang="de-CH" sz="1700" dirty="0" err="1"/>
                        <a:t>Dhrumil</a:t>
                      </a:r>
                      <a:r>
                        <a:rPr lang="de-CH" sz="1700" dirty="0"/>
                        <a:t> </a:t>
                      </a:r>
                      <a:r>
                        <a:rPr lang="de-CH" sz="1700" dirty="0" err="1"/>
                        <a:t>Kirit</a:t>
                      </a:r>
                      <a:r>
                        <a:rPr lang="de-CH" sz="1700" dirty="0"/>
                        <a:t> GANATRA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5"/>
                        </a:rPr>
                        <a:t>dhrumil@igcar.gov.in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37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2-5.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KAERI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Byung Ha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6"/>
                        </a:rPr>
                        <a:t>bhpark@kaeri.re.kr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2-6. Provide description </a:t>
                      </a:r>
                      <a:r>
                        <a:rPr lang="en-US" sz="1700" dirty="0" err="1">
                          <a:solidFill>
                            <a:srgbClr val="C00000"/>
                          </a:solidFill>
                        </a:rPr>
                        <a:t>newcleo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 Barbara Calgaro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7"/>
                        </a:rPr>
                        <a:t>barbara.calgaro@newcleo.com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7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2-7.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NINE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Alessandro Petruzzi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8"/>
                        </a:rPr>
                        <a:t>a.petruzzi@nineeng.com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673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2-8.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PSI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Mr. Konstantin Mikityuk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hlinkClick r:id="rId9"/>
                        </a:rPr>
                        <a:t>Konstantin.Mikityuk@psi.ch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6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2-9.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UNIPI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Andrea Pucciarelli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10"/>
                        </a:rPr>
                        <a:t>Andrea.Pucciarelli@unipi.it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8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2-10. Provide description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XJTU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err="1"/>
                        <a:t>Ms</a:t>
                      </a:r>
                      <a:r>
                        <a:rPr lang="en-US" sz="1700" dirty="0"/>
                        <a:t> Dalin Zhang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/>
                        <a:t>dlzhang@xjtu.edu.cn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864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8FD701-4878-E759-A911-6A3424DD6118}"/>
              </a:ext>
            </a:extLst>
          </p:cNvPr>
          <p:cNvSpPr txBox="1"/>
          <p:nvPr/>
        </p:nvSpPr>
        <p:spPr>
          <a:xfrm>
            <a:off x="149224" y="6250646"/>
            <a:ext cx="110775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Word doc file to 13. Annex I: Introduction of the participating organizations </a:t>
            </a:r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255750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2228-A8B0-7F08-24C9-C02008B1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8A41D1-F7AE-0CD4-93DC-3820288A6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Description of codes: readiness</a:t>
            </a:r>
            <a:endParaRPr lang="de-CH" sz="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E590F-9933-ED21-8F4A-8410837BD87D}"/>
              </a:ext>
            </a:extLst>
          </p:cNvPr>
          <p:cNvSpPr txBox="1"/>
          <p:nvPr/>
        </p:nvSpPr>
        <p:spPr>
          <a:xfrm>
            <a:off x="149225" y="6250646"/>
            <a:ext cx="6394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if the list is complete.</a:t>
            </a:r>
            <a:endParaRPr lang="de-CH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D882D-4091-E64A-5BE4-4D8B15B4D82E}"/>
              </a:ext>
            </a:extLst>
          </p:cNvPr>
          <p:cNvSpPr txBox="1"/>
          <p:nvPr/>
        </p:nvSpPr>
        <p:spPr>
          <a:xfrm>
            <a:off x="149225" y="1080000"/>
            <a:ext cx="36370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200" dirty="0">
                <a:solidFill>
                  <a:schemeClr val="accent6"/>
                </a:solidFill>
              </a:rPr>
              <a:t>1. ANTEO+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2. CELSIST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3. CFX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4. COBRA-4</a:t>
            </a:r>
          </a:p>
          <a:p>
            <a:r>
              <a:rPr lang="de-CH" sz="2200" dirty="0">
                <a:solidFill>
                  <a:srgbClr val="FF0000"/>
                </a:solidFill>
              </a:rPr>
              <a:t>5. CTF-R</a:t>
            </a:r>
          </a:p>
          <a:p>
            <a:r>
              <a:rPr lang="de-CH" sz="2200" dirty="0">
                <a:solidFill>
                  <a:srgbClr val="FF0000"/>
                </a:solidFill>
              </a:rPr>
              <a:t>6. FLOWNEX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7. FLUENT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8. FRTAC</a:t>
            </a:r>
          </a:p>
          <a:p>
            <a:r>
              <a:rPr lang="de-CH" sz="2200" dirty="0">
                <a:solidFill>
                  <a:srgbClr val="FF0000"/>
                </a:solidFill>
              </a:rPr>
              <a:t>9. GAMMA+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10. HYDRA-IBRAE/LM</a:t>
            </a:r>
          </a:p>
          <a:p>
            <a:r>
              <a:rPr lang="de-CH" sz="2200" dirty="0">
                <a:solidFill>
                  <a:srgbClr val="FF0000"/>
                </a:solidFill>
              </a:rPr>
              <a:t>11. LOCUST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12. LOGOS</a:t>
            </a:r>
          </a:p>
          <a:p>
            <a:r>
              <a:rPr lang="de-CH" sz="2200" dirty="0">
                <a:solidFill>
                  <a:srgbClr val="FF0000"/>
                </a:solidFill>
              </a:rPr>
              <a:t>13. MATADOR</a:t>
            </a:r>
          </a:p>
          <a:p>
            <a:r>
              <a:rPr lang="de-CH" sz="2200" dirty="0">
                <a:solidFill>
                  <a:schemeClr val="accent6"/>
                </a:solidFill>
              </a:rPr>
              <a:t>14. NEKRS-CARDINAL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BEE93-25C8-3D90-67B4-AB89340A2ED7}"/>
              </a:ext>
            </a:extLst>
          </p:cNvPr>
          <p:cNvSpPr txBox="1"/>
          <p:nvPr/>
        </p:nvSpPr>
        <p:spPr>
          <a:xfrm>
            <a:off x="5665694" y="1080000"/>
            <a:ext cx="363705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accent6"/>
                </a:solidFill>
              </a:rPr>
              <a:t>15. </a:t>
            </a:r>
            <a:r>
              <a:rPr lang="en-US" sz="2200" dirty="0" err="1">
                <a:solidFill>
                  <a:schemeClr val="accent6"/>
                </a:solidFill>
              </a:rPr>
              <a:t>OpenFOAM</a:t>
            </a:r>
            <a:r>
              <a:rPr lang="en-US" sz="2200" dirty="0">
                <a:solidFill>
                  <a:schemeClr val="accent6"/>
                </a:solidFill>
              </a:rPr>
              <a:t>-BARAM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16. </a:t>
            </a:r>
            <a:r>
              <a:rPr lang="en-US" sz="2200" dirty="0" err="1">
                <a:solidFill>
                  <a:schemeClr val="accent6"/>
                </a:solidFill>
              </a:rPr>
              <a:t>OpenFOAM</a:t>
            </a:r>
            <a:endParaRPr lang="en-US" sz="2200" dirty="0">
              <a:solidFill>
                <a:schemeClr val="accent6"/>
              </a:solidFill>
            </a:endParaRPr>
          </a:p>
          <a:p>
            <a:r>
              <a:rPr lang="en-US" sz="2200" dirty="0">
                <a:solidFill>
                  <a:schemeClr val="accent6"/>
                </a:solidFill>
              </a:rPr>
              <a:t>17. PUCHOK-GMT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18. RELAP5</a:t>
            </a:r>
          </a:p>
          <a:p>
            <a:r>
              <a:rPr lang="en-US" sz="2200" dirty="0">
                <a:solidFill>
                  <a:srgbClr val="FF0000"/>
                </a:solidFill>
              </a:rPr>
              <a:t>19. RELAP5-3D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20. RELAP-SCDAPSIM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21. SAM-</a:t>
            </a:r>
            <a:r>
              <a:rPr lang="de-CH" sz="2200" dirty="0">
                <a:solidFill>
                  <a:schemeClr val="accent6"/>
                </a:solidFill>
              </a:rPr>
              <a:t> MOOSE SCM</a:t>
            </a:r>
            <a:endParaRPr lang="en-US" sz="2200" dirty="0">
              <a:solidFill>
                <a:schemeClr val="accent6"/>
              </a:solidFill>
            </a:endParaRPr>
          </a:p>
          <a:p>
            <a:r>
              <a:rPr lang="en-US" sz="2200" dirty="0">
                <a:solidFill>
                  <a:schemeClr val="accent6"/>
                </a:solidFill>
              </a:rPr>
              <a:t>22. SAS4A/SASSYS-1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23. SPECTRA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24. STAR CCM+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25. THACS</a:t>
            </a:r>
          </a:p>
          <a:p>
            <a:r>
              <a:rPr lang="en-US" sz="2200" dirty="0">
                <a:solidFill>
                  <a:srgbClr val="FF0000"/>
                </a:solidFill>
              </a:rPr>
              <a:t>26. THOR</a:t>
            </a:r>
          </a:p>
          <a:p>
            <a:r>
              <a:rPr lang="en-US" sz="2200" dirty="0">
                <a:solidFill>
                  <a:srgbClr val="FF0000"/>
                </a:solidFill>
              </a:rPr>
              <a:t>27. TRACE</a:t>
            </a:r>
          </a:p>
          <a:p>
            <a:r>
              <a:rPr lang="en-US" sz="2200" dirty="0">
                <a:solidFill>
                  <a:srgbClr val="FF0000"/>
                </a:solidFill>
              </a:rPr>
              <a:t>28. </a:t>
            </a:r>
            <a:r>
              <a:rPr lang="en-US" sz="2200" dirty="0" err="1">
                <a:solidFill>
                  <a:srgbClr val="FF0000"/>
                </a:solidFill>
              </a:rPr>
              <a:t>xATHAS</a:t>
            </a:r>
            <a:r>
              <a:rPr lang="en-US" sz="2200" dirty="0">
                <a:solidFill>
                  <a:srgbClr val="FF0000"/>
                </a:solidFill>
              </a:rPr>
              <a:t>-LBE</a:t>
            </a:r>
          </a:p>
          <a:p>
            <a:r>
              <a:rPr lang="en-US" sz="2200" dirty="0">
                <a:solidFill>
                  <a:schemeClr val="accent6"/>
                </a:solidFill>
              </a:rPr>
              <a:t>29. YAOGUANG</a:t>
            </a:r>
          </a:p>
        </p:txBody>
      </p:sp>
    </p:spTree>
    <p:extLst>
      <p:ext uri="{BB962C8B-B14F-4D97-AF65-F5344CB8AC3E}">
        <p14:creationId xmlns:p14="http://schemas.microsoft.com/office/powerpoint/2010/main" val="92461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3668-6474-4380-4F69-EFFF45D7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F22C46-CD93-6498-1D85-D28146A65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Description of codes: actions</a:t>
            </a:r>
            <a:endParaRPr lang="de-CH" sz="5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783A5E-A90B-B84D-F208-1B9841D80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25"/>
              </p:ext>
            </p:extLst>
          </p:nvPr>
        </p:nvGraphicFramePr>
        <p:xfrm>
          <a:off x="165100" y="1276350"/>
          <a:ext cx="11949079" cy="4815840"/>
        </p:xfrm>
        <a:graphic>
          <a:graphicData uri="http://schemas.openxmlformats.org/drawingml/2006/table">
            <a:tbl>
              <a:tblPr firstRow="1" bandRow="1"/>
              <a:tblGrid>
                <a:gridCol w="3855320">
                  <a:extLst>
                    <a:ext uri="{9D8B030D-6E8A-4147-A177-3AD203B41FA5}">
                      <a16:colId xmlns:a16="http://schemas.microsoft.com/office/drawing/2014/main" val="1953030346"/>
                    </a:ext>
                  </a:extLst>
                </a:gridCol>
                <a:gridCol w="3567154">
                  <a:extLst>
                    <a:ext uri="{9D8B030D-6E8A-4147-A177-3AD203B41FA5}">
                      <a16:colId xmlns:a16="http://schemas.microsoft.com/office/drawing/2014/main" val="815452527"/>
                    </a:ext>
                  </a:extLst>
                </a:gridCol>
                <a:gridCol w="3073941">
                  <a:extLst>
                    <a:ext uri="{9D8B030D-6E8A-4147-A177-3AD203B41FA5}">
                      <a16:colId xmlns:a16="http://schemas.microsoft.com/office/drawing/2014/main" val="119306581"/>
                    </a:ext>
                  </a:extLst>
                </a:gridCol>
                <a:gridCol w="1452664">
                  <a:extLst>
                    <a:ext uri="{9D8B030D-6E8A-4147-A177-3AD203B41FA5}">
                      <a16:colId xmlns:a16="http://schemas.microsoft.com/office/drawing/2014/main" val="993552657"/>
                    </a:ext>
                  </a:extLst>
                </a:gridCol>
              </a:tblGrid>
              <a:tr h="138006"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53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3-1.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LOCUST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 </a:t>
                      </a:r>
                      <a:r>
                        <a:rPr lang="de-CH" sz="1700" dirty="0" err="1"/>
                        <a:t>Meilan</a:t>
                      </a:r>
                      <a:r>
                        <a:rPr lang="de-CH" sz="1700" dirty="0"/>
                        <a:t> Chen/CNPRI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hlinkClick r:id="rId2"/>
                        </a:rPr>
                        <a:t>chenmeilan@cgnpc.com.cn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2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3-2.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THACS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Ms</a:t>
                      </a:r>
                      <a:r>
                        <a:rPr lang="en-US" dirty="0"/>
                        <a:t> Dalin Zhang/XJTU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>
                          <a:hlinkClick r:id="rId3"/>
                        </a:rPr>
                        <a:t>dlzhang@xjtu.edu.cn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0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3-3.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TRACE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Konstantin/PSI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hlinkClick r:id="rId4"/>
                        </a:rPr>
                        <a:t>konstantin.mikityuk@psi.ch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7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3-4.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FLOWNEX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Mr </a:t>
                      </a:r>
                      <a:r>
                        <a:rPr lang="de-CH" dirty="0" err="1"/>
                        <a:t>Dhrumil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Kirit</a:t>
                      </a:r>
                      <a:r>
                        <a:rPr lang="de-CH" dirty="0"/>
                        <a:t> GANATRA/IGCAR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5"/>
                        </a:rPr>
                        <a:t>dhrumil@igcar.gov.in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37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3-5.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GAMMA+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Byung Ha Park/KAERI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6"/>
                        </a:rPr>
                        <a:t>bhpark@kaeri.re.kr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3-6.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ANSYS CFX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Mr Ivan Di Piazza/ENEA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7"/>
                        </a:rPr>
                        <a:t>ivan.dipiazza@enea.it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7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3-7. Provide description </a:t>
                      </a:r>
                      <a:r>
                        <a:rPr lang="de-CH" sz="1800" dirty="0" err="1">
                          <a:solidFill>
                            <a:srgbClr val="C00000"/>
                          </a:solidFill>
                        </a:rPr>
                        <a:t>OpenFOAM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Mr Ivan Di Piazza/ENEA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7"/>
                        </a:rPr>
                        <a:t>ivan.dipiazza@enea.it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673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3-8. Provide description </a:t>
                      </a:r>
                      <a:r>
                        <a:rPr lang="de-CH" sz="1800" dirty="0" err="1">
                          <a:solidFill>
                            <a:srgbClr val="C00000"/>
                          </a:solidFill>
                        </a:rPr>
                        <a:t>xATHAS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-LBE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 </a:t>
                      </a:r>
                      <a:r>
                        <a:rPr lang="de-CH" sz="1700" dirty="0" err="1"/>
                        <a:t>Meilan</a:t>
                      </a:r>
                      <a:r>
                        <a:rPr lang="de-CH" sz="1700" dirty="0"/>
                        <a:t> Chen/CNPRI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hlinkClick r:id="rId2"/>
                        </a:rPr>
                        <a:t>chenmeilan@cgnpc.com.cn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6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3-9.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YAOGUANG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Ms</a:t>
                      </a:r>
                      <a:r>
                        <a:rPr lang="en-US" dirty="0"/>
                        <a:t> Dalin Zhang/XJTU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3"/>
                        </a:rPr>
                        <a:t>dlzhang@xjtu.edu.cn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8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3-10.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RELAP5-3D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Mr</a:t>
                      </a:r>
                      <a:r>
                        <a:rPr lang="en-US" dirty="0"/>
                        <a:t> Gianfranco Caruso/Sapienza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hlinkClick r:id="rId8"/>
                        </a:rPr>
                        <a:t>gianfranco.caruso@uniroma1.it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8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3-11.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CTF-R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Alessandro Petruzzi/NINE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9"/>
                        </a:rPr>
                        <a:t>a.petruzzi@nineeng.com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9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3-12. Provide description </a:t>
                      </a:r>
                      <a:r>
                        <a:rPr lang="de-CH" sz="1800" dirty="0">
                          <a:solidFill>
                            <a:srgbClr val="C00000"/>
                          </a:solidFill>
                        </a:rPr>
                        <a:t>MATADOR</a:t>
                      </a:r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 Ahmed </a:t>
                      </a:r>
                      <a:r>
                        <a:rPr lang="de-CH" sz="1700" dirty="0" err="1"/>
                        <a:t>Baisov</a:t>
                      </a:r>
                      <a:r>
                        <a:rPr lang="de-CH" sz="1700" dirty="0"/>
                        <a:t>/</a:t>
                      </a:r>
                      <a:r>
                        <a:rPr lang="de-CH" sz="1700" dirty="0" err="1"/>
                        <a:t>Gidropress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10"/>
                        </a:rPr>
                        <a:t>baisov75@gmail.com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15.03.2026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0332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5DEA96-E571-46CA-D7F2-D1666A246E8F}"/>
              </a:ext>
            </a:extLst>
          </p:cNvPr>
          <p:cNvSpPr txBox="1"/>
          <p:nvPr/>
        </p:nvSpPr>
        <p:spPr>
          <a:xfrm>
            <a:off x="149224" y="6250646"/>
            <a:ext cx="110775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Word doc file to 14. Annex II: Description of simulation codes  </a:t>
            </a:r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137573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C9CA-77E0-59AA-F3B5-B7642E63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333E780-4A34-A5D9-5020-1741752C4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Individual results: readiness</a:t>
            </a:r>
            <a:endParaRPr lang="de-CH" sz="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F1365-8870-9EFB-2A42-41740354080E}"/>
              </a:ext>
            </a:extLst>
          </p:cNvPr>
          <p:cNvSpPr txBox="1"/>
          <p:nvPr/>
        </p:nvSpPr>
        <p:spPr>
          <a:xfrm>
            <a:off x="149225" y="6250646"/>
            <a:ext cx="6394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if the list is complete.</a:t>
            </a:r>
            <a:endParaRPr lang="de-CH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FBD26-56C3-1BAC-A31D-ED83854E58D4}"/>
              </a:ext>
            </a:extLst>
          </p:cNvPr>
          <p:cNvSpPr txBox="1"/>
          <p:nvPr/>
        </p:nvSpPr>
        <p:spPr>
          <a:xfrm>
            <a:off x="1" y="1391150"/>
            <a:ext cx="454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ANL          	USA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CIAE         	China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CNPRI        	China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ENEA         	Italy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Gidropress  	Russia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IANS         	China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IBRAE        	Russia 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(WP5)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IGCAR        	India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JRC          	EC 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(WP4)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KAERI        	Korea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KIT          	Germany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98EBF-3836-9738-E5F0-6A7DA456F489}"/>
              </a:ext>
            </a:extLst>
          </p:cNvPr>
          <p:cNvSpPr txBox="1"/>
          <p:nvPr/>
        </p:nvSpPr>
        <p:spPr>
          <a:xfrm>
            <a:off x="6096000" y="1391150"/>
            <a:ext cx="4546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 La Sapienza  	Italy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 </a:t>
            </a:r>
            <a:r>
              <a:rPr lang="en-US" sz="2400" noProof="0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newcleo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	Italy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 NIKIET       		Russia </a:t>
            </a: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(WP3)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 NINE         		Italy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 NRG          		Netherlands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 PSI          		Switzerland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18. PUB          		Romania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 RATEN ICN    	Romania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20. UNIPI        		Italy</a:t>
            </a:r>
          </a:p>
          <a:p>
            <a:r>
              <a:rPr lang="en-US" sz="2400" noProof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21. Westinghouse 	USA</a:t>
            </a:r>
          </a:p>
          <a:p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22. XJTU         		China</a:t>
            </a:r>
          </a:p>
          <a:p>
            <a:endParaRPr lang="en-US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55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3C0E-0327-C8AD-470E-CF66B5F8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65B53A-DDC9-D539-20A1-270FEC5A0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8000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Individual results: actions</a:t>
            </a:r>
            <a:endParaRPr lang="de-CH" sz="5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25BA9C-9830-D7FC-043A-E8C9D9458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63224"/>
              </p:ext>
            </p:extLst>
          </p:nvPr>
        </p:nvGraphicFramePr>
        <p:xfrm>
          <a:off x="149860" y="1085850"/>
          <a:ext cx="11157977" cy="5171440"/>
        </p:xfrm>
        <a:graphic>
          <a:graphicData uri="http://schemas.openxmlformats.org/drawingml/2006/table">
            <a:tbl>
              <a:tblPr firstRow="1" bandRow="1"/>
              <a:tblGrid>
                <a:gridCol w="4201646">
                  <a:extLst>
                    <a:ext uri="{9D8B030D-6E8A-4147-A177-3AD203B41FA5}">
                      <a16:colId xmlns:a16="http://schemas.microsoft.com/office/drawing/2014/main" val="1953030346"/>
                    </a:ext>
                  </a:extLst>
                </a:gridCol>
                <a:gridCol w="2658894">
                  <a:extLst>
                    <a:ext uri="{9D8B030D-6E8A-4147-A177-3AD203B41FA5}">
                      <a16:colId xmlns:a16="http://schemas.microsoft.com/office/drawing/2014/main" val="815452527"/>
                    </a:ext>
                  </a:extLst>
                </a:gridCol>
                <a:gridCol w="2976664">
                  <a:extLst>
                    <a:ext uri="{9D8B030D-6E8A-4147-A177-3AD203B41FA5}">
                      <a16:colId xmlns:a16="http://schemas.microsoft.com/office/drawing/2014/main" val="119306581"/>
                    </a:ext>
                  </a:extLst>
                </a:gridCol>
                <a:gridCol w="1320773">
                  <a:extLst>
                    <a:ext uri="{9D8B030D-6E8A-4147-A177-3AD203B41FA5}">
                      <a16:colId xmlns:a16="http://schemas.microsoft.com/office/drawing/2014/main" val="993552657"/>
                    </a:ext>
                  </a:extLst>
                </a:gridCol>
              </a:tblGrid>
              <a:tr h="138006">
                <a:tc>
                  <a:txBody>
                    <a:bodyPr/>
                    <a:lstStyle/>
                    <a:p>
                      <a:r>
                        <a:rPr lang="en-US" sz="1700" dirty="0"/>
                        <a:t>What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Who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Email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Deadline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53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4-1. Provide report of results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CNPRI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Ms. </a:t>
                      </a:r>
                      <a:r>
                        <a:rPr lang="de-CH" sz="1700" dirty="0" err="1"/>
                        <a:t>Meilan</a:t>
                      </a:r>
                      <a:r>
                        <a:rPr lang="de-CH" sz="1700" dirty="0"/>
                        <a:t>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hlinkClick r:id="rId2"/>
                        </a:rPr>
                        <a:t>chenmeilan@cgnpc.com.cn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2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4-2.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ENEA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Mr. Ivan Di Piazza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3"/>
                        </a:rPr>
                        <a:t>ivan.dipiazza@enea.it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0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4-3. Provide report of results  </a:t>
                      </a:r>
                      <a:r>
                        <a:rPr lang="de-CH" sz="1700" dirty="0" err="1">
                          <a:solidFill>
                            <a:srgbClr val="C00000"/>
                          </a:solidFill>
                        </a:rPr>
                        <a:t>Gidropress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Ahmed </a:t>
                      </a:r>
                      <a:r>
                        <a:rPr lang="de-CH" sz="1700" dirty="0" err="1"/>
                        <a:t>Baisov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4"/>
                        </a:rPr>
                        <a:t>baisov75@gmail.com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7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4-4. Provide report of results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IGCAR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</a:t>
                      </a:r>
                      <a:r>
                        <a:rPr lang="de-CH" sz="1700" dirty="0" err="1"/>
                        <a:t>Dhrumil</a:t>
                      </a:r>
                      <a:r>
                        <a:rPr lang="de-CH" sz="1700" dirty="0"/>
                        <a:t> </a:t>
                      </a:r>
                      <a:r>
                        <a:rPr lang="de-CH" sz="1700" dirty="0" err="1"/>
                        <a:t>Kirit</a:t>
                      </a:r>
                      <a:r>
                        <a:rPr lang="de-CH" sz="1700" dirty="0"/>
                        <a:t> GANATRA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5"/>
                        </a:rPr>
                        <a:t>dhrumil@igcar.gov.in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37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4-5.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KAERI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Byung Ha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6"/>
                        </a:rPr>
                        <a:t>bhpark@kaeri.re.kr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4-6. Provide report of results  </a:t>
                      </a:r>
                      <a:r>
                        <a:rPr lang="de-CH" sz="1700" dirty="0" err="1">
                          <a:solidFill>
                            <a:srgbClr val="C00000"/>
                          </a:solidFill>
                        </a:rPr>
                        <a:t>newcleo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Ms. Barbara Calgaro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7"/>
                        </a:rPr>
                        <a:t>barbara.calgaro@newcleo.com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7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4-7.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NINE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Alessandro Petruzzi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hlinkClick r:id="rId8"/>
                        </a:rPr>
                        <a:t>a.petruzzi@nineeng.com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673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4-8.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NRG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Ferry Roelofs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9"/>
                        </a:rPr>
                        <a:t>roelofs@nrg.eu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6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4-9.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PSI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Mr. Konstantin Mikityuk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hlinkClick r:id="rId10"/>
                        </a:rPr>
                        <a:t>konstantin.mikityuk@psi.ch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8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4-10. Provide report of results 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RATEN ICN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 Mr. Mirea Mladin</a:t>
                      </a:r>
                      <a:endParaRPr lang="de-CH" sz="17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hlinkClick r:id="rId11"/>
                        </a:rPr>
                        <a:t>mirea.mladin@nuclear.ro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8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4-11. Provide </a:t>
                      </a:r>
                      <a:r>
                        <a:rPr lang="en-US" sz="1700" dirty="0"/>
                        <a:t>report of results </a:t>
                      </a:r>
                      <a:r>
                        <a:rPr lang="en-US" sz="1700" dirty="0">
                          <a:solidFill>
                            <a:srgbClr val="C00000"/>
                          </a:solidFill>
                        </a:rPr>
                        <a:t>XJTU</a:t>
                      </a:r>
                      <a:endParaRPr lang="de-CH" sz="17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Dalin Zhang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12"/>
                        </a:rPr>
                        <a:t>dlzhang@xjtu.edu.cn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9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4-12. Provide </a:t>
                      </a:r>
                      <a:r>
                        <a:rPr lang="en-US" sz="1700" dirty="0"/>
                        <a:t>report of results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IBRAE (WP5)</a:t>
                      </a:r>
                      <a:endParaRPr lang="de-CH" sz="17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Ms. </a:t>
                      </a:r>
                      <a:r>
                        <a:rPr lang="de-CH" sz="1700" dirty="0" err="1"/>
                        <a:t>Nastasya</a:t>
                      </a:r>
                      <a:r>
                        <a:rPr lang="de-CH" sz="1700" dirty="0"/>
                        <a:t> </a:t>
                      </a:r>
                      <a:r>
                        <a:rPr lang="de-CH" sz="1700" dirty="0" err="1"/>
                        <a:t>Mosunova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13"/>
                        </a:rPr>
                        <a:t>nam@ibrae.ac.ru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03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4-13. Provide </a:t>
                      </a:r>
                      <a:r>
                        <a:rPr lang="en-US" sz="1700" dirty="0"/>
                        <a:t>report of results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CH" sz="1700" dirty="0">
                          <a:solidFill>
                            <a:srgbClr val="C00000"/>
                          </a:solidFill>
                        </a:rPr>
                        <a:t>JRC (WP4)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700" dirty="0"/>
                        <a:t>Mr. Luca </a:t>
                      </a:r>
                      <a:r>
                        <a:rPr lang="de-CH" sz="1700" dirty="0" err="1"/>
                        <a:t>Ammirabile</a:t>
                      </a:r>
                      <a:endParaRPr lang="de-CH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hlinkClick r:id="rId14"/>
                        </a:rPr>
                        <a:t>luca.ammirabile@ec.europa.eu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31.03.2026</a:t>
                      </a:r>
                      <a:endParaRPr lang="de-C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8462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8EA5470-A9A4-14C9-6431-9B426DD505BB}"/>
              </a:ext>
            </a:extLst>
          </p:cNvPr>
          <p:cNvSpPr txBox="1"/>
          <p:nvPr/>
        </p:nvSpPr>
        <p:spPr>
          <a:xfrm>
            <a:off x="149224" y="6441146"/>
            <a:ext cx="110775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Word doc file to 15. Annex III: Individual results</a:t>
            </a:r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2574456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D9328E238A74E9F29FD7E721AEDAB" ma:contentTypeVersion="2" ma:contentTypeDescription="Create a new document." ma:contentTypeScope="" ma:versionID="39ae63eb142d3fe1709322933097f9a4">
  <xsd:schema xmlns:xsd="http://www.w3.org/2001/XMLSchema" xmlns:xs="http://www.w3.org/2001/XMLSchema" xmlns:p="http://schemas.microsoft.com/office/2006/metadata/properties" xmlns:ns2="7e2e151c-dac5-445b-bf96-82805ce2a2c8" targetNamespace="http://schemas.microsoft.com/office/2006/metadata/properties" ma:root="true" ma:fieldsID="39ed7929dde1372f6d17432a2c80d9b3" ns2:_="">
    <xsd:import namespace="7e2e151c-dac5-445b-bf96-82805ce2a2c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2e151c-dac5-445b-bf96-82805ce2a2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21521-3079-45FC-A6EC-347FC2B143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F2BA460-3E04-4191-A876-920A13FBD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B26DC5-628F-487C-B981-3EB0F686FE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2e151c-dac5-445b-bf96-82805ce2a2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1432</Words>
  <Application>Microsoft Office PowerPoint</Application>
  <PresentationFormat>Widescreen</PresentationFormat>
  <Paragraphs>277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 Theme</vt:lpstr>
      <vt:lpstr>CRP NACIE: status of TECDOC preparation</vt:lpstr>
      <vt:lpstr>Workspace</vt:lpstr>
      <vt:lpstr>Chapters: readiness</vt:lpstr>
      <vt:lpstr>Chapters: actions</vt:lpstr>
      <vt:lpstr>Description of organizations: readiness</vt:lpstr>
      <vt:lpstr>Description of organizations: actions</vt:lpstr>
      <vt:lpstr>Description of codes: readiness</vt:lpstr>
      <vt:lpstr>Description of codes: actions</vt:lpstr>
      <vt:lpstr>Individual results: readiness</vt:lpstr>
      <vt:lpstr>Individual results: actions</vt:lpstr>
    </vt:vector>
  </TitlesOfParts>
  <Company>Paul Scherrer 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Mikityuk, Konstantin</dc:creator>
  <cp:lastModifiedBy>Mikityuk, Konstantin</cp:lastModifiedBy>
  <cp:revision>28</cp:revision>
  <dcterms:created xsi:type="dcterms:W3CDTF">2026-03-02T17:36:08Z</dcterms:created>
  <dcterms:modified xsi:type="dcterms:W3CDTF">2026-04-13T13:09:56Z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0x010100C38D9328E238A74E9F29FD7E721AEDAB</vt:lpwstr>
  </property>
</Properties>
</file>